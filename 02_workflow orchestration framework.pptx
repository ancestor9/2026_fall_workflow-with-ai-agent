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1151" r:id="rId2"/>
    <p:sldId id="1149" r:id="rId3"/>
    <p:sldId id="1159" r:id="rId4"/>
    <p:sldId id="1160" r:id="rId5"/>
    <p:sldId id="1162" r:id="rId6"/>
    <p:sldId id="1163" r:id="rId7"/>
    <p:sldId id="1166" r:id="rId8"/>
    <p:sldId id="1164" r:id="rId9"/>
    <p:sldId id="1167" r:id="rId10"/>
    <p:sldId id="1168" r:id="rId11"/>
    <p:sldId id="1169" r:id="rId12"/>
    <p:sldId id="1179" r:id="rId13"/>
    <p:sldId id="1170" r:id="rId14"/>
    <p:sldId id="1171" r:id="rId15"/>
    <p:sldId id="1172" r:id="rId16"/>
    <p:sldId id="1173" r:id="rId17"/>
    <p:sldId id="1165" r:id="rId1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/>
        </p14:section>
        <p14:section name="디자인, 모핑, 주석 달기, 공동 작업, 입력하세요" id="{B9B51309-D148-4332-87C2-07BE32FBCA3B}">
          <p14:sldIdLst>
            <p14:sldId id="1151"/>
            <p14:sldId id="1149"/>
            <p14:sldId id="1159"/>
            <p14:sldId id="1160"/>
            <p14:sldId id="1162"/>
            <p14:sldId id="1163"/>
            <p14:sldId id="1166"/>
            <p14:sldId id="1164"/>
            <p14:sldId id="1167"/>
            <p14:sldId id="1168"/>
            <p14:sldId id="1169"/>
            <p14:sldId id="1179"/>
            <p14:sldId id="1170"/>
            <p14:sldId id="1171"/>
            <p14:sldId id="1172"/>
            <p14:sldId id="1173"/>
            <p14:sldId id="116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6E3FF"/>
    <a:srgbClr val="D24726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5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9BBB-4A23-E21A-8244-9A166645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42B148-30DF-9C89-8EB1-0DAC5F08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9DC16-78A6-4EE7-0852-436C5803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EE036-ABA4-0BFC-663A-BDFAA104B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39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bletech.oopy.io/07ebb564-0f7b-47d4-99d1-0081ab5ae610#771a0e5e-ec16-4de7-a734-13ca4b70acda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N01188cEN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KqDq4TFbmY&amp;t=112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dagster.i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mUjf3gL1VU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9595-A7A2-8D11-697D-CA319DF3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8F6A-7E6A-AD19-2830-0E0A1F926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Workflow Orchestration Framework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292716D-C476-8D34-55FE-086386A1F74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>
                <a:solidFill>
                  <a:schemeClr val="bg1"/>
                </a:solidFill>
              </a:rPr>
              <a:t>조상구 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5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577530" y="1248422"/>
            <a:ext cx="11233469" cy="4421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Prefect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ko-KR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BD37-4EA5-A647-F3B5-81ABF1BE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E70747-3937-3211-79F3-EE4B0352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AC9A7F-FBA1-C39E-C108-C08FD957F3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48BBF-4DF5-7909-3102-CD71F9819A79}"/>
              </a:ext>
            </a:extLst>
          </p:cNvPr>
          <p:cNvSpPr txBox="1"/>
          <p:nvPr/>
        </p:nvSpPr>
        <p:spPr>
          <a:xfrm>
            <a:off x="558800" y="1248422"/>
            <a:ext cx="1107440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데이터 파이프라인을 구축하기 위한 워크플로우 오케스트레이션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관리 및 자동화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프레임워크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 스크립트를 프로덕션 레벨의 워크플로우로 승격시키는 가장 간단한 방법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주변 환경에 반응하고 예기치 않은 변경 사항으로부터 스스로 복구되는 회복탄력성 있고 동적인 데이터 파이프라인을 구축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몇 줄의 코드만으로 스케줄링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재시도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이벤트 기반 자동화 등의 기능을 활용하여 비즈니스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프로세스를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워크플로우의 모든 활동은 추적되며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자체적으로 호스팅하는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서버 인스턴스나 클라우드로 관리되는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Prefect Cloud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대시보드를 통해 모니터링할 수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566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9E17-42C6-41A6-6506-A8DE518C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088A117-A1DF-2BD0-DEA3-A64D94BBC53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AB654-7C89-C306-C0E2-3091189B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858D23-A354-2BAE-FC48-75ADE8D5A3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26099-4C5D-159B-AAC7-F65373B22019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5CB6A8-21F5-EA9E-2407-F9FCDDFC4326}"/>
              </a:ext>
            </a:extLst>
          </p:cNvPr>
          <p:cNvSpPr/>
          <p:nvPr/>
        </p:nvSpPr>
        <p:spPr>
          <a:xfrm>
            <a:off x="1259632" y="3446305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5CB2D8-B84A-CD9C-D862-9B8F3DBFE225}"/>
              </a:ext>
            </a:extLst>
          </p:cNvPr>
          <p:cNvSpPr/>
          <p:nvPr/>
        </p:nvSpPr>
        <p:spPr>
          <a:xfrm>
            <a:off x="4016768" y="3446305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F68F8-75A6-DEB8-5534-8689CA22D520}"/>
              </a:ext>
            </a:extLst>
          </p:cNvPr>
          <p:cNvSpPr txBox="1"/>
          <p:nvPr/>
        </p:nvSpPr>
        <p:spPr>
          <a:xfrm>
            <a:off x="1049034" y="4521964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B68BB4-664E-1378-D2FA-927345C06704}"/>
              </a:ext>
            </a:extLst>
          </p:cNvPr>
          <p:cNvSpPr txBox="1"/>
          <p:nvPr/>
        </p:nvSpPr>
        <p:spPr>
          <a:xfrm>
            <a:off x="6360522" y="4521964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5170F-3C08-8C57-D5BF-1DE328ACE712}"/>
              </a:ext>
            </a:extLst>
          </p:cNvPr>
          <p:cNvSpPr txBox="1"/>
          <p:nvPr/>
        </p:nvSpPr>
        <p:spPr>
          <a:xfrm>
            <a:off x="4052440" y="4521964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2F8072-EF5F-116B-4B39-98401B1A18D9}"/>
              </a:ext>
            </a:extLst>
          </p:cNvPr>
          <p:cNvSpPr txBox="1"/>
          <p:nvPr/>
        </p:nvSpPr>
        <p:spPr>
          <a:xfrm>
            <a:off x="9486870" y="4521964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47C0-BA98-BBCC-70DB-4442A4729D14}"/>
              </a:ext>
            </a:extLst>
          </p:cNvPr>
          <p:cNvSpPr/>
          <p:nvPr/>
        </p:nvSpPr>
        <p:spPr>
          <a:xfrm>
            <a:off x="6773904" y="3446305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73285B-E7AA-48B6-D3AE-7C0090E6A78C}"/>
              </a:ext>
            </a:extLst>
          </p:cNvPr>
          <p:cNvSpPr/>
          <p:nvPr/>
        </p:nvSpPr>
        <p:spPr>
          <a:xfrm>
            <a:off x="9531040" y="3446305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BB8A90-1282-B7B4-9A84-5949ABAA0E8C}"/>
              </a:ext>
            </a:extLst>
          </p:cNvPr>
          <p:cNvSpPr txBox="1"/>
          <p:nvPr/>
        </p:nvSpPr>
        <p:spPr>
          <a:xfrm>
            <a:off x="618607" y="3953949"/>
            <a:ext cx="641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1BCFB-32EB-75CF-E045-8D93DAC65AA7}"/>
              </a:ext>
            </a:extLst>
          </p:cNvPr>
          <p:cNvSpPr txBox="1"/>
          <p:nvPr/>
        </p:nvSpPr>
        <p:spPr>
          <a:xfrm>
            <a:off x="2707432" y="3953949"/>
            <a:ext cx="519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19E40-7822-E796-BD88-A986A1D6B176}"/>
              </a:ext>
            </a:extLst>
          </p:cNvPr>
          <p:cNvSpPr txBox="1"/>
          <p:nvPr/>
        </p:nvSpPr>
        <p:spPr>
          <a:xfrm>
            <a:off x="619125" y="1285875"/>
            <a:ext cx="10944225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데이터확보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훈련</a:t>
            </a:r>
            <a:r>
              <a:rPr lang="en-US" altLang="ko-KR" dirty="0"/>
              <a:t>, </a:t>
            </a:r>
            <a:r>
              <a:rPr lang="ko-KR" altLang="en-US" dirty="0"/>
              <a:t>평가 등의 </a:t>
            </a:r>
            <a:r>
              <a:rPr lang="en-US" altLang="ko-KR" dirty="0"/>
              <a:t>pipeline</a:t>
            </a:r>
            <a:r>
              <a:rPr lang="ko-KR" altLang="en-US" dirty="0"/>
              <a:t>으로 구성된 일련의 순차적 </a:t>
            </a:r>
            <a:r>
              <a:rPr lang="en-US" altLang="ko-KR" dirty="0"/>
              <a:t>ML </a:t>
            </a:r>
            <a:r>
              <a:rPr lang="ko-KR" altLang="en-US" dirty="0"/>
              <a:t>연구절차는 </a:t>
            </a:r>
            <a:r>
              <a:rPr lang="en-US" altLang="ko-KR" dirty="0"/>
              <a:t>workflow </a:t>
            </a:r>
            <a:r>
              <a:rPr lang="ko-KR" altLang="en-US" dirty="0"/>
              <a:t>로 이해하고 각 단계별로 함수를 구성하여 </a:t>
            </a:r>
            <a:r>
              <a:rPr lang="en-US" altLang="ko-KR" dirty="0"/>
              <a:t>Python</a:t>
            </a:r>
            <a:r>
              <a:rPr lang="ko-KR" altLang="en-US" dirty="0"/>
              <a:t>의 사용자정의함수로 구성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9CF657A-1A7C-5FB7-B2B2-296851B037C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8154845-685B-60D3-9C71-920A3FB7AEC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3941605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32C05C-0472-2E4A-5431-8268F31C207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3941605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3A48C5B-518A-A23D-2B92-9DC1235B6A5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3941605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0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A399-218B-55A4-4CC7-6697E688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ACB1585-BF90-CE13-4D94-37D610F8FE6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707432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6779-27E3-80B8-553E-EB3AF061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6D70E3D-7896-D295-96AB-8B3A5F81F8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Prefect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61D9-E136-2B70-15EA-A6F9A21E38AA}"/>
              </a:ext>
            </a:extLst>
          </p:cNvPr>
          <p:cNvSpPr txBox="1"/>
          <p:nvPr/>
        </p:nvSpPr>
        <p:spPr>
          <a:xfrm>
            <a:off x="711525" y="5609578"/>
            <a:ext cx="2907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Prefect_ML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pipeline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24CABF-50F0-C047-55ED-63A8A8676B12}"/>
              </a:ext>
            </a:extLst>
          </p:cNvPr>
          <p:cNvSpPr/>
          <p:nvPr/>
        </p:nvSpPr>
        <p:spPr>
          <a:xfrm>
            <a:off x="1259632" y="3951130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F8CB1-BB43-CF70-A514-0910AD7F2F48}"/>
              </a:ext>
            </a:extLst>
          </p:cNvPr>
          <p:cNvSpPr/>
          <p:nvPr/>
        </p:nvSpPr>
        <p:spPr>
          <a:xfrm>
            <a:off x="4016768" y="3951130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08E54C-A40D-32E5-F214-132EBA09A7C4}"/>
              </a:ext>
            </a:extLst>
          </p:cNvPr>
          <p:cNvSpPr/>
          <p:nvPr/>
        </p:nvSpPr>
        <p:spPr>
          <a:xfrm>
            <a:off x="6773904" y="3951130"/>
            <a:ext cx="1447800" cy="990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775689F-BEE5-DD23-0D2D-871BACCEE770}"/>
              </a:ext>
            </a:extLst>
          </p:cNvPr>
          <p:cNvSpPr/>
          <p:nvPr/>
        </p:nvSpPr>
        <p:spPr>
          <a:xfrm>
            <a:off x="9531040" y="3951130"/>
            <a:ext cx="1447800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A681-06A1-836E-0294-E4D75DB4B938}"/>
              </a:ext>
            </a:extLst>
          </p:cNvPr>
          <p:cNvSpPr txBox="1"/>
          <p:nvPr/>
        </p:nvSpPr>
        <p:spPr>
          <a:xfrm>
            <a:off x="619125" y="1285875"/>
            <a:ext cx="10944225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Prefect</a:t>
            </a:r>
            <a:r>
              <a:rPr lang="ko-KR" altLang="en-US" dirty="0"/>
              <a:t>의 </a:t>
            </a:r>
            <a:r>
              <a:rPr lang="en-US" altLang="ko-KR" dirty="0"/>
              <a:t>@task</a:t>
            </a:r>
            <a:r>
              <a:rPr lang="ko-KR" altLang="en-US" dirty="0"/>
              <a:t>와 </a:t>
            </a:r>
            <a:r>
              <a:rPr lang="en-US" altLang="ko-KR" dirty="0"/>
              <a:t>@flow “Decorator”</a:t>
            </a:r>
            <a:r>
              <a:rPr lang="ko-KR" altLang="en-US" dirty="0"/>
              <a:t> 로 구성하여</a:t>
            </a:r>
            <a:r>
              <a:rPr lang="en-US" altLang="ko-KR" dirty="0"/>
              <a:t> Prefect Server</a:t>
            </a:r>
            <a:r>
              <a:rPr lang="ko-KR" altLang="en-US" dirty="0"/>
              <a:t>와 </a:t>
            </a:r>
            <a:r>
              <a:rPr lang="en-US" altLang="ko-KR" dirty="0"/>
              <a:t>Agent</a:t>
            </a:r>
            <a:r>
              <a:rPr lang="ko-KR" altLang="en-US" dirty="0"/>
              <a:t>를 사용하지 않고 </a:t>
            </a:r>
            <a:r>
              <a:rPr lang="en-US" altLang="ko-KR" dirty="0"/>
              <a:t>Prefect</a:t>
            </a:r>
            <a:r>
              <a:rPr lang="ko-KR" altLang="en-US" dirty="0"/>
              <a:t>에서 직접 </a:t>
            </a:r>
            <a:r>
              <a:rPr lang="en-US" altLang="ko-KR" dirty="0"/>
              <a:t>Flow</a:t>
            </a:r>
            <a:r>
              <a:rPr lang="ko-KR" altLang="en-US" dirty="0"/>
              <a:t>를 실행</a:t>
            </a:r>
            <a:r>
              <a:rPr lang="en-US" altLang="ko-KR" dirty="0"/>
              <a:t>ML pipeline</a:t>
            </a:r>
            <a:r>
              <a:rPr lang="ko-KR" altLang="en-US" dirty="0"/>
              <a:t>을 완성</a:t>
            </a:r>
            <a:r>
              <a:rPr lang="en-US" altLang="ko-KR" dirty="0"/>
              <a:t>(</a:t>
            </a:r>
            <a:r>
              <a:rPr lang="en-US" altLang="ko-KR" dirty="0" err="1"/>
              <a:t>FastAPI</a:t>
            </a:r>
            <a:r>
              <a:rPr lang="en-US" altLang="ko-KR" dirty="0"/>
              <a:t> Decorator</a:t>
            </a:r>
            <a:r>
              <a:rPr lang="ko-KR" altLang="en-US" dirty="0"/>
              <a:t> 작동과 </a:t>
            </a:r>
            <a:r>
              <a:rPr lang="ko-KR" altLang="en-US" dirty="0" err="1"/>
              <a:t>비슷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40F9E9-EFF1-2B29-88B1-6BB4DFB7132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221704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C8B627-A7DD-5CBD-B9FB-AD31A3C504A7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5464568" y="4446430"/>
            <a:ext cx="13093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D7E671C-4E06-FE8A-03BB-B208995E81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0978840" y="4446430"/>
            <a:ext cx="65678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7AC483B-1D59-316A-911F-CF7957EF7DE2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56371" y="4446430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D95266-D533-5E46-C575-97F9417B9907}"/>
              </a:ext>
            </a:extLst>
          </p:cNvPr>
          <p:cNvSpPr txBox="1"/>
          <p:nvPr/>
        </p:nvSpPr>
        <p:spPr>
          <a:xfrm>
            <a:off x="1174912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0C659-D6DA-C109-D4C0-B49EFC4EE5E3}"/>
              </a:ext>
            </a:extLst>
          </p:cNvPr>
          <p:cNvSpPr txBox="1"/>
          <p:nvPr/>
        </p:nvSpPr>
        <p:spPr>
          <a:xfrm>
            <a:off x="9475786" y="3686774"/>
            <a:ext cx="763589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845C0-212C-8FFB-A8BE-B4B40055DF1B}"/>
              </a:ext>
            </a:extLst>
          </p:cNvPr>
          <p:cNvSpPr txBox="1"/>
          <p:nvPr/>
        </p:nvSpPr>
        <p:spPr>
          <a:xfrm>
            <a:off x="6708828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F2E88-6966-40B6-E443-5A63069FCBBA}"/>
              </a:ext>
            </a:extLst>
          </p:cNvPr>
          <p:cNvSpPr txBox="1"/>
          <p:nvPr/>
        </p:nvSpPr>
        <p:spPr>
          <a:xfrm>
            <a:off x="3941870" y="3686774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145A-8E34-EA1F-F713-B4D119F7594C}"/>
              </a:ext>
            </a:extLst>
          </p:cNvPr>
          <p:cNvSpPr txBox="1"/>
          <p:nvPr/>
        </p:nvSpPr>
        <p:spPr>
          <a:xfrm>
            <a:off x="5128651" y="2701771"/>
            <a:ext cx="103822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75"/>
              </a:lnSpc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@flow</a:t>
            </a: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824AD1B-349B-D2B8-5958-7A1890A96E46}"/>
              </a:ext>
            </a:extLst>
          </p:cNvPr>
          <p:cNvCxnSpPr>
            <a:cxnSpLocks/>
            <a:stCxn id="9" idx="0"/>
            <a:endCxn id="26" idx="1"/>
          </p:cNvCxnSpPr>
          <p:nvPr/>
        </p:nvCxnSpPr>
        <p:spPr>
          <a:xfrm rot="5400000" flipH="1" flipV="1">
            <a:off x="2997705" y="1555828"/>
            <a:ext cx="827267" cy="34346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8BCFFAC-D694-127B-405C-A72DB627214E}"/>
              </a:ext>
            </a:extLst>
          </p:cNvPr>
          <p:cNvCxnSpPr>
            <a:cxnSpLocks/>
            <a:stCxn id="26" idx="3"/>
            <a:endCxn id="14" idx="0"/>
          </p:cNvCxnSpPr>
          <p:nvPr/>
        </p:nvCxnSpPr>
        <p:spPr>
          <a:xfrm>
            <a:off x="6166876" y="2859507"/>
            <a:ext cx="3690705" cy="82726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B4A1519-62CA-A54D-5C8E-E72CE3933A04}"/>
              </a:ext>
            </a:extLst>
          </p:cNvPr>
          <p:cNvSpPr txBox="1"/>
          <p:nvPr/>
        </p:nvSpPr>
        <p:spPr>
          <a:xfrm>
            <a:off x="1049034" y="5026789"/>
            <a:ext cx="21431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download_dataset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CEFDA9-CE73-FFC8-5749-21824F3F5BE6}"/>
              </a:ext>
            </a:extLst>
          </p:cNvPr>
          <p:cNvSpPr txBox="1"/>
          <p:nvPr/>
        </p:nvSpPr>
        <p:spPr>
          <a:xfrm>
            <a:off x="6360522" y="5026789"/>
            <a:ext cx="2266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preprocess_dataset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0DF27-E13E-3B0E-4F1A-875B1E8586AC}"/>
              </a:ext>
            </a:extLst>
          </p:cNvPr>
          <p:cNvSpPr txBox="1"/>
          <p:nvPr/>
        </p:nvSpPr>
        <p:spPr>
          <a:xfrm>
            <a:off x="4052440" y="5026789"/>
            <a:ext cx="1447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EC700A-DECB-9AE9-3718-CCE4F8ADD472}"/>
              </a:ext>
            </a:extLst>
          </p:cNvPr>
          <p:cNvSpPr txBox="1"/>
          <p:nvPr/>
        </p:nvSpPr>
        <p:spPr>
          <a:xfrm>
            <a:off x="9486870" y="5026789"/>
            <a:ext cx="1810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evaluate_model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128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  <p:bldP spid="20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A2B2-7D04-6C1C-BE95-F64D111B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1278D-6AEB-90A6-2C79-D9D2B5C5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78601AB-7D74-4FA3-03B7-C229B10055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9334-4596-C95D-FF73-4829C6222595}"/>
              </a:ext>
            </a:extLst>
          </p:cNvPr>
          <p:cNvSpPr txBox="1"/>
          <p:nvPr/>
        </p:nvSpPr>
        <p:spPr>
          <a:xfrm>
            <a:off x="590550" y="1310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i="0" dirty="0">
                <a:solidFill>
                  <a:srgbClr val="0F0F0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Asset Based Orchestration 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F32224-4064-C60F-5CAB-C969CAB00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04" y="1921104"/>
            <a:ext cx="9777307" cy="41151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019B7-D40E-12CD-24DE-75276F937E39}"/>
              </a:ext>
            </a:extLst>
          </p:cNvPr>
          <p:cNvSpPr txBox="1"/>
          <p:nvPr/>
        </p:nvSpPr>
        <p:spPr>
          <a:xfrm>
            <a:off x="736704" y="6092608"/>
            <a:ext cx="3373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hlinkClick r:id="rId3"/>
              </a:rPr>
              <a:t>https://www.youtube.com/watch?v=4N01188cENo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8123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2767-49E4-E697-8067-5E5814F0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6CC42B-8148-F1B3-D327-09167A46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F15F78-A4EE-2B2F-9D6D-89C0C06190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7A65C42-A2B1-9B7E-7F1B-2B706BA2A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943676"/>
            <a:ext cx="7866233" cy="44577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F0C3C1-DCDC-C71A-E775-28AFDD77A33C}"/>
              </a:ext>
            </a:extLst>
          </p:cNvPr>
          <p:cNvSpPr txBox="1"/>
          <p:nvPr/>
        </p:nvSpPr>
        <p:spPr>
          <a:xfrm>
            <a:off x="478972" y="1393885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Data Orchestration and Pipelines with Python &amp; DAGs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YouTube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1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078-FEE6-62A2-65DA-08A878F6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B42B8-7038-CCEE-AE19-99D98C53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EC00CA1-2E6C-4F23-9095-49DFFECF10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297C84E-C348-3BCD-AEF3-53A24BF6F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395726"/>
              </p:ext>
            </p:extLst>
          </p:nvPr>
        </p:nvGraphicFramePr>
        <p:xfrm>
          <a:off x="639567" y="1680988"/>
          <a:ext cx="10189840" cy="4720398"/>
        </p:xfrm>
        <a:graphic>
          <a:graphicData uri="http://schemas.openxmlformats.org/drawingml/2006/table">
            <a:tbl>
              <a:tblPr/>
              <a:tblGrid>
                <a:gridCol w="2037968">
                  <a:extLst>
                    <a:ext uri="{9D8B030D-6E8A-4147-A177-3AD203B41FA5}">
                      <a16:colId xmlns:a16="http://schemas.microsoft.com/office/drawing/2014/main" val="992021438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1059555906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4184403374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2851758390"/>
                    </a:ext>
                  </a:extLst>
                </a:gridCol>
                <a:gridCol w="2037968">
                  <a:extLst>
                    <a:ext uri="{9D8B030D-6E8A-4147-A177-3AD203B41FA5}">
                      <a16:colId xmlns:a16="http://schemas.microsoft.com/office/drawing/2014/main" val="3490357920"/>
                    </a:ext>
                  </a:extLst>
                </a:gridCol>
              </a:tblGrid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비교 항목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n8n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Prefect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Dagster</a:t>
                      </a:r>
                      <a:endParaRPr 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01904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 목적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Workflow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Data/ML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ETL/Data Pipeline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13165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사용자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업무 담당자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/ ML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Engineer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28776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58859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ML Pipeline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지원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362868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파이프라인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★★☆☆☆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★★★★☆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★★★★★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597291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 Engineering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3299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 학습 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Workflow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70143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Asset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관리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9275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Data Lineage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×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899972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Email, Slack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ko-KR" altLang="en-US" sz="12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59352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REST API </a:t>
                      </a: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연동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85171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Agent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구축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69553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GUI </a:t>
                      </a: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개발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△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595205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시각화</a:t>
                      </a:r>
                      <a:r>
                        <a:rPr lang="en-US" altLang="ko-KR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UI)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04514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모니터링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00383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스케줄링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1997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재시도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Retry)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143810"/>
                  </a:ext>
                </a:extLst>
              </a:tr>
              <a:tr h="15852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Docker/Kubernetes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○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◎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9117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학습 난이도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쉬움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쉬움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중간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어려움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013082"/>
                  </a:ext>
                </a:extLst>
              </a:tr>
              <a:tr h="13770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산업 활용도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</a:t>
                      </a:r>
                      <a:r>
                        <a:rPr lang="en-US" altLang="ko-KR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Agent)</a:t>
                      </a:r>
                    </a:p>
                  </a:txBody>
                  <a:tcPr marL="18677" marR="18677" marT="9339" marB="93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증가 중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증가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</a:p>
                  </a:txBody>
                  <a:tcPr marL="18677" marR="18677" marT="9339" marB="933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0735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79ED65-F56B-098F-AC21-898E42A841B1}"/>
              </a:ext>
            </a:extLst>
          </p:cNvPr>
          <p:cNvSpPr txBox="1"/>
          <p:nvPr/>
        </p:nvSpPr>
        <p:spPr>
          <a:xfrm>
            <a:off x="8200507" y="1305572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Asset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D816-8D9C-D3FF-7A8C-FBED83720981}"/>
              </a:ext>
            </a:extLst>
          </p:cNvPr>
          <p:cNvSpPr txBox="1"/>
          <p:nvPr/>
        </p:nvSpPr>
        <p:spPr>
          <a:xfrm>
            <a:off x="2924175" y="1337189"/>
            <a:ext cx="172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 based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888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C9D6-939A-E317-CE68-F8661A4E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E115B5E-D2C8-C66C-9DDB-1D6B2FBD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364211"/>
            <a:ext cx="3848099" cy="184555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CF170A-562A-D94F-1D3C-AAA1A54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CCAFDA-8B79-C92B-0CD5-2BC1BCB202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0BA15-3939-0C49-105B-49C5ECBF3B2C}"/>
              </a:ext>
            </a:extLst>
          </p:cNvPr>
          <p:cNvSpPr txBox="1"/>
          <p:nvPr/>
        </p:nvSpPr>
        <p:spPr>
          <a:xfrm>
            <a:off x="4600575" y="1364211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Welcome to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Dagster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University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30512-F0DB-DBDE-68B6-9CA78BCA3A66}"/>
              </a:ext>
            </a:extLst>
          </p:cNvPr>
          <p:cNvSpPr txBox="1"/>
          <p:nvPr/>
        </p:nvSpPr>
        <p:spPr>
          <a:xfrm>
            <a:off x="581025" y="3376018"/>
            <a:ext cx="10429875" cy="138499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깃허브에서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다운로드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https://github.com/dagster-io/project-dagster-university.git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다운로드된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프로젝트 폴더로 이동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project-dagster-university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환경 생성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만들어 준 가상환경 켜기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\Scripts\activate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sync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성공적으로 완료하면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-e ".[dev]"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명령어는 패스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5.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서버 실행하기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dev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3024DFF-5239-C53B-0E08-A7240B3F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076" y="4949786"/>
            <a:ext cx="7025707" cy="1480366"/>
          </a:xfrm>
          <a:prstGeom prst="rect">
            <a:avLst/>
          </a:prstGeom>
        </p:spPr>
      </p:pic>
      <p:pic>
        <p:nvPicPr>
          <p:cNvPr id="19" name="그래픽 18" descr="조금 굽은 줄 화살표">
            <a:extLst>
              <a:ext uri="{FF2B5EF4-FFF2-40B4-BE49-F238E27FC236}">
                <a16:creationId xmlns:a16="http://schemas.microsoft.com/office/drawing/2014/main" id="{FFACB1CB-A2B0-AEAA-B738-06CC72AA5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3903" y="5121861"/>
            <a:ext cx="914400" cy="9144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84007F-B2F3-D7E5-E5CB-0665C264ED91}"/>
              </a:ext>
            </a:extLst>
          </p:cNvPr>
          <p:cNvSpPr/>
          <p:nvPr/>
        </p:nvSpPr>
        <p:spPr>
          <a:xfrm>
            <a:off x="561975" y="1857375"/>
            <a:ext cx="1314450" cy="138499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0F224-99D1-5CFC-55CD-ED314800FE76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setup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198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A22E-658A-A998-81C4-7AE0908D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6AA-48E3-83EB-C127-0B2B10A1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4AB4CD-1C44-DBFB-60D8-756F8E5047B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05602-5817-E748-6884-E022BC5E1C62}"/>
              </a:ext>
            </a:extLst>
          </p:cNvPr>
          <p:cNvSpPr txBox="1"/>
          <p:nvPr/>
        </p:nvSpPr>
        <p:spPr>
          <a:xfrm>
            <a:off x="647700" y="1374068"/>
            <a:ext cx="6257925" cy="15318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가루 재료와 액체 재료를 섞어서 쿠키 반죽을 만듭니다.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B9EA446-3D44-513C-29DE-90DAEC93208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832204" y="4108843"/>
            <a:ext cx="1996571" cy="5546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1D15C8-8673-CFB2-DDF7-D3B1ADFC7B05}"/>
              </a:ext>
            </a:extLst>
          </p:cNvPr>
          <p:cNvSpPr/>
          <p:nvPr/>
        </p:nvSpPr>
        <p:spPr>
          <a:xfrm>
            <a:off x="5384404" y="3613543"/>
            <a:ext cx="1447800" cy="990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877147-D93F-E72B-661C-A0199C013578}"/>
              </a:ext>
            </a:extLst>
          </p:cNvPr>
          <p:cNvSpPr/>
          <p:nvPr/>
        </p:nvSpPr>
        <p:spPr>
          <a:xfrm>
            <a:off x="8828775" y="4168208"/>
            <a:ext cx="14478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2F04E0-A659-1376-F397-B836D9F19EF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81143" y="4108843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A7981E-E787-D008-164D-130AAD45075D}"/>
              </a:ext>
            </a:extLst>
          </p:cNvPr>
          <p:cNvSpPr/>
          <p:nvPr/>
        </p:nvSpPr>
        <p:spPr>
          <a:xfrm>
            <a:off x="5384404" y="5260664"/>
            <a:ext cx="1447800" cy="990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B8302C1-6FAE-5450-EA9E-DE4400C7AE0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6832204" y="4663508"/>
            <a:ext cx="1996571" cy="1092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86F109-5050-A1E3-C41C-BB855BCC432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0276575" y="4663508"/>
            <a:ext cx="6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D0F790-A610-6674-7513-505D3CDB0EB0}"/>
              </a:ext>
            </a:extLst>
          </p:cNvPr>
          <p:cNvSpPr txBox="1"/>
          <p:nvPr/>
        </p:nvSpPr>
        <p:spPr>
          <a:xfrm>
            <a:off x="8600175" y="3799972"/>
            <a:ext cx="167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cookie_dough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676C-B223-3651-B8C1-338B6E06F84A}"/>
              </a:ext>
            </a:extLst>
          </p:cNvPr>
          <p:cNvSpPr txBox="1"/>
          <p:nvPr/>
        </p:nvSpPr>
        <p:spPr>
          <a:xfrm>
            <a:off x="5253142" y="3303576"/>
            <a:ext cx="198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dry_ingredients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852BFB-617E-C6FD-ADA7-42F0BF3D0771}"/>
              </a:ext>
            </a:extLst>
          </p:cNvPr>
          <p:cNvSpPr txBox="1"/>
          <p:nvPr/>
        </p:nvSpPr>
        <p:spPr>
          <a:xfrm>
            <a:off x="5253142" y="4914110"/>
            <a:ext cx="2028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wet_ingredients</a:t>
            </a:r>
            <a:endParaRPr lang="ko-KR" altLang="en-US" sz="16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1F26169-68AB-C60F-F2C8-6D76CEC2362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81143" y="5755964"/>
            <a:ext cx="7032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BC6A84D-310B-C3E3-CFF0-CC3FA9AB8108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637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38DB-9D6B-01D0-1FBE-FFDC901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99238-F8C8-8998-03A7-3A1284F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CE17854-DE33-7488-D8B0-CFAAD8CB002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E70912-34CD-EA62-9535-7D7636BFAD01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Defining your first asset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C3C370-0A0F-9C47-43E3-5C2701AE3B81}"/>
              </a:ext>
            </a:extLst>
          </p:cNvPr>
          <p:cNvSpPr txBox="1"/>
          <p:nvPr/>
        </p:nvSpPr>
        <p:spPr>
          <a:xfrm>
            <a:off x="552450" y="1261880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참고해서,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옐로우 택시 데이터를 다운로드하는 자산(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자산들이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파이프라인으로 나타남!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D1FD-AEC8-95D6-D381-294A4DEB1B81}"/>
              </a:ext>
            </a:extLst>
          </p:cNvPr>
          <p:cNvSpPr txBox="1"/>
          <p:nvPr/>
        </p:nvSpPr>
        <p:spPr>
          <a:xfrm>
            <a:off x="981074" y="2739005"/>
            <a:ext cx="9677401" cy="38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안에서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“dg scaffold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assets/trips.py”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850D8-73BD-1093-FA0A-96A9F7CE68F7}"/>
              </a:ext>
            </a:extLst>
          </p:cNvPr>
          <p:cNvSpPr txBox="1"/>
          <p:nvPr/>
        </p:nvSpPr>
        <p:spPr>
          <a:xfrm>
            <a:off x="990600" y="3536432"/>
            <a:ext cx="6096000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├── constants.py # 이미 존재하던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└── trips.py     # ⭐ 방금 새로 생성된 파일!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A30FE-3988-F601-7BF2-83C7FA9E101B}"/>
              </a:ext>
            </a:extLst>
          </p:cNvPr>
          <p:cNvSpPr txBox="1"/>
          <p:nvPr/>
        </p:nvSpPr>
        <p:spPr>
          <a:xfrm>
            <a:off x="990601" y="3166092"/>
            <a:ext cx="10534650" cy="4936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scaffold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dagster.asset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assets/trips.py</a:t>
            </a: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44CCC-D611-835D-BF17-653377D8B352}"/>
              </a:ext>
            </a:extLst>
          </p:cNvPr>
          <p:cNvSpPr txBox="1"/>
          <p:nvPr/>
        </p:nvSpPr>
        <p:spPr>
          <a:xfrm>
            <a:off x="2647691" y="5102247"/>
            <a:ext cx="6782318" cy="81336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dagster as dg</a:t>
            </a:r>
          </a:p>
          <a:p>
            <a:pPr>
              <a:lnSpc>
                <a:spcPts val="1425"/>
              </a:lnSpc>
              <a:buNone/>
            </a:pPr>
            <a:endParaRPr lang="pt-B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pt-BR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trips(context: dg.AssetExecutionContext) -&gt; dg.MaterializeResult: ...</a:t>
            </a:r>
          </a:p>
        </p:txBody>
      </p:sp>
      <p:sp>
        <p:nvSpPr>
          <p:cNvPr id="23" name="왼쪽 중괄호 22">
            <a:extLst>
              <a:ext uri="{FF2B5EF4-FFF2-40B4-BE49-F238E27FC236}">
                <a16:creationId xmlns:a16="http://schemas.microsoft.com/office/drawing/2014/main" id="{6310B6DC-E0D9-F9F8-FEC9-315C751EF697}"/>
              </a:ext>
            </a:extLst>
          </p:cNvPr>
          <p:cNvSpPr/>
          <p:nvPr/>
        </p:nvSpPr>
        <p:spPr>
          <a:xfrm>
            <a:off x="495299" y="2930242"/>
            <a:ext cx="342900" cy="2956207"/>
          </a:xfrm>
          <a:prstGeom prst="leftBrace">
            <a:avLst>
              <a:gd name="adj1" fmla="val 9166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50BDD3-29B2-8F1E-B858-81A83ACBF025}"/>
              </a:ext>
            </a:extLst>
          </p:cNvPr>
          <p:cNvSpPr txBox="1"/>
          <p:nvPr/>
        </p:nvSpPr>
        <p:spPr>
          <a:xfrm>
            <a:off x="990601" y="5915611"/>
            <a:ext cx="10534650" cy="3409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-essentials) D:\project-dagster-university\dagster_university\dagster_essentials&gt;dg check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1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E6C3-CC87-8475-B91B-2CC88ABC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4CA5D-F732-5BCB-C9A8-CF645240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BC73058-199B-0BAA-BFA7-A73EA36F2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AECC0-6E4B-75DA-F7A3-4C780C8AE473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  <a:cs typeface="+mj-cs"/>
              </a:rPr>
              <a:t>understanding your first asset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30602-3315-064C-73EC-0224D01907C0}"/>
              </a:ext>
            </a:extLst>
          </p:cNvPr>
          <p:cNvSpPr txBox="1"/>
          <p:nvPr/>
        </p:nvSpPr>
        <p:spPr>
          <a:xfrm>
            <a:off x="5753619" y="3457297"/>
            <a:ext cx="5075788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dagster_university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dagster_essentials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├──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├── __init__.py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ko-KR" altLang="en-US" sz="12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constants.py</a:t>
            </a:r>
            <a:endParaRPr lang="en-US" altLang="ko-KR" sz="12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        └──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trips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F3D07-BB00-296C-DE7C-9F12C67BE96B}"/>
              </a:ext>
            </a:extLst>
          </p:cNvPr>
          <p:cNvSpPr txBox="1"/>
          <p:nvPr/>
        </p:nvSpPr>
        <p:spPr>
          <a:xfrm>
            <a:off x="561975" y="1390064"/>
            <a:ext cx="10267432" cy="206723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src/dagster_essentials/defs/assets/trips.py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dagster_essentials.defs.assets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constants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dg</a:t>
            </a:r>
          </a:p>
          <a:p>
            <a:pPr>
              <a:lnSpc>
                <a:spcPts val="142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@dg.asset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taxi_trips_file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-&gt; None: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'2023-03'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requests.get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f"https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://d37ci6vzurychx.cloudfront.net/trip-data/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yellow_tripdata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}.parquet")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with open(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constants.TAXI_TRIPS_TEMPLATE_FILE_PATH.format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month_to_fetch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wb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as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output_file.write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raw_trips.content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2A0B0-1D3A-0920-2774-4380D68D0911}"/>
              </a:ext>
            </a:extLst>
          </p:cNvPr>
          <p:cNvSpPr txBox="1"/>
          <p:nvPr/>
        </p:nvSpPr>
        <p:spPr>
          <a:xfrm>
            <a:off x="561975" y="3883786"/>
            <a:ext cx="4839825" cy="1725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아래 작동방식을 </a:t>
            </a:r>
            <a:r>
              <a:rPr lang="ko-KR" altLang="en-US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코드간의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관계로 이해하자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trips.py에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자산(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asset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코드를 작성하면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constants.py에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정의된 저장 경로를 참고하고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definitions.py라는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관제탑 파일에 등록되어,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실행하면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웹 화면에 파이프라인을 확인하고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데이터가 저장되는 방식과 경로를 이해한다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89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E87B-CB8D-A5E4-2355-39C41EA8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48D39-9A3F-2C96-9B53-D1830F21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C26670F-EAE3-C100-533E-72B541DFE1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3269E-DC11-EAA8-DC41-64E5F129BFBD}"/>
              </a:ext>
            </a:extLst>
          </p:cNvPr>
          <p:cNvSpPr txBox="1"/>
          <p:nvPr/>
        </p:nvSpPr>
        <p:spPr>
          <a:xfrm>
            <a:off x="7029450" y="80302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Lora" pitchFamily="2" charset="0"/>
                <a:ea typeface="Batang" panose="02030600000101010101" pitchFamily="18" charset="-127"/>
              </a:rPr>
              <a:t>asset materialization</a:t>
            </a:r>
          </a:p>
        </p:txBody>
      </p:sp>
    </p:spTree>
    <p:extLst>
      <p:ext uri="{BB962C8B-B14F-4D97-AF65-F5344CB8AC3E}">
        <p14:creationId xmlns:p14="http://schemas.microsoft.com/office/powerpoint/2010/main" val="40958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231C-AA61-D877-5B85-55AEBF34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FBEDF-F195-CBE9-71A8-EA89735F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60D3ABA-D1B0-BA66-1695-8955D1D206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59AA20-1026-BD45-9E83-A3F889F62F49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199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3B67F-A332-0519-2BE6-E5E25916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906BAC-8910-8018-092F-30E32FA7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EF73DD0-1B93-9D8E-1C93-84712155EA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25E9B-A7CB-E99A-78B4-0DF22E44B39D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1747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DBB-647E-70E1-6417-59079514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12F20-AA2C-C6E2-4571-8373FF36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A77482C-5729-4348-6A85-22487558BC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63A81-8124-5318-A0D8-F340E3861735}"/>
              </a:ext>
            </a:extLst>
          </p:cNvPr>
          <p:cNvSpPr txBox="1"/>
          <p:nvPr/>
        </p:nvSpPr>
        <p:spPr>
          <a:xfrm>
            <a:off x="9191625" y="73634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latin typeface="Lora" pitchFamily="2" charset="0"/>
                <a:ea typeface="Batang" panose="02030600000101010101" pitchFamily="18" charset="-127"/>
                <a:cs typeface="+mj-cs"/>
              </a:rPr>
              <a:t>asset</a:t>
            </a:r>
            <a:endParaRPr lang="ko-KR" altLang="en-US" sz="2400" b="1" dirty="0">
              <a:latin typeface="Lora" pitchFamily="2" charset="0"/>
              <a:ea typeface="Batang" panose="02030600000101010101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4184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C406A-6C49-88AD-C62D-C5F7A238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6A1428-F923-8BAF-480F-95D6779D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FB6538-0210-26AF-0D95-81FAD616E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 err="1">
                <a:latin typeface="Lora" pitchFamily="2" charset="0"/>
              </a:rPr>
              <a:t>Dagster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3FBD1-C95B-F68E-16D8-2532DBAFE8E8}"/>
              </a:ext>
            </a:extLst>
          </p:cNvPr>
          <p:cNvSpPr txBox="1"/>
          <p:nvPr/>
        </p:nvSpPr>
        <p:spPr>
          <a:xfrm>
            <a:off x="570895" y="1248422"/>
            <a:ext cx="9630380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pip install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D:\prefect_ml&gt;dagster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scaffold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D:\prefect_ml&gt;cd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-e .[dev]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D:\prefect_ml\my_dagster_project&gt;pip install --upgrade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protobuf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D:\prefect_ml\my_dagster_project&gt;dagster-webserver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6D359-7AD5-E1D9-4B02-44809E2257ED}"/>
              </a:ext>
            </a:extLst>
          </p:cNvPr>
          <p:cNvSpPr txBox="1"/>
          <p:nvPr/>
        </p:nvSpPr>
        <p:spPr>
          <a:xfrm>
            <a:off x="1428750" y="2101840"/>
            <a:ext cx="92964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    📂 [최상위 프로젝트 폴더] - 프로젝트 전체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      📂 [파이썬 패키지 폴더] - 실제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Dagster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코드가 있는 폴더!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assets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definitions.py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my_dagster_project_tests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   📂 [테스트 폴더] - 작성한 코드가 잘 작동하는지 검사하는 폴더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pyproject.toml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📄 [설정 파일] - 라이브러리 설치 정보, 프로젝트 설정 관리 파일</a:t>
            </a: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README.md                   📄 [설명서 파일] - 이 프로젝트가 무엇인지 적어두는 메모장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D5AF8F-61C0-DCC1-8F9E-BA2DA83A22F1}"/>
              </a:ext>
            </a:extLst>
          </p:cNvPr>
          <p:cNvSpPr txBox="1"/>
          <p:nvPr/>
        </p:nvSpPr>
        <p:spPr>
          <a:xfrm>
            <a:off x="657224" y="6068240"/>
            <a:ext cx="555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동영상 https://www.youtube.com/watch?v=ZmUjf3gL1VU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39464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11060</TotalTime>
  <Words>1197</Words>
  <Application>Microsoft Office PowerPoint</Application>
  <PresentationFormat>와이드스크린</PresentationFormat>
  <Paragraphs>266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Workflow Orchestration Framework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160</cp:revision>
  <dcterms:created xsi:type="dcterms:W3CDTF">2026-04-06T01:00:39Z</dcterms:created>
  <dcterms:modified xsi:type="dcterms:W3CDTF">2026-07-08T01:24:48Z</dcterms:modified>
  <cp:version/>
</cp:coreProperties>
</file>